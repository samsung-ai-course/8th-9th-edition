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0"/>
  </p:notes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89" r:id="rId9"/>
  </p:sldIdLst>
  <p:sldSz cx="24384000" cy="13716000"/>
  <p:notesSz cx="6858000" cy="9144000"/>
  <p:embeddedFontLst>
    <p:embeddedFont>
      <p:font typeface="Montserrat SemiBold" panose="020F0502020204030204" pitchFamily="34" charset="0"/>
      <p:regular r:id="rId11"/>
      <p:bold r:id="rId12"/>
      <p:italic r:id="rId13"/>
      <p:boldItalic r:id="rId14"/>
    </p:embeddedFont>
    <p:embeddedFont>
      <p:font typeface="Poppins" pitchFamily="2" charset="77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160">
          <p15:clr>
            <a:srgbClr val="A4A3A4"/>
          </p15:clr>
        </p15:guide>
        <p15:guide id="2" pos="14781">
          <p15:clr>
            <a:srgbClr val="A4A3A4"/>
          </p15:clr>
        </p15:guide>
        <p15:guide id="3" pos="559">
          <p15:clr>
            <a:srgbClr val="A4A3A4"/>
          </p15:clr>
        </p15:guide>
        <p15:guide id="4" orient="horz" pos="480">
          <p15:clr>
            <a:srgbClr val="A4A3A4"/>
          </p15:clr>
        </p15:guide>
        <p15:guide id="5" pos="7000">
          <p15:clr>
            <a:srgbClr val="A4A3A4"/>
          </p15:clr>
        </p15:guide>
        <p15:guide id="6" orient="horz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72E708-F628-4C6F-A0BD-D95C8EA586CE}">
  <a:tblStyle styleId="{8F72E708-F628-4C6F-A0BD-D95C8EA586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7"/>
    <p:restoredTop sz="94694"/>
  </p:normalViewPr>
  <p:slideViewPr>
    <p:cSldViewPr snapToGrid="0">
      <p:cViewPr varScale="1">
        <p:scale>
          <a:sx n="52" d="100"/>
          <a:sy n="52" d="100"/>
        </p:scale>
        <p:origin x="248" y="568"/>
      </p:cViewPr>
      <p:guideLst>
        <p:guide orient="horz" pos="8160"/>
        <p:guide pos="14781"/>
        <p:guide pos="559"/>
        <p:guide orient="horz" pos="480"/>
        <p:guide pos="700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c2f04299c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c2f04299c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2c2f04299c6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c2f04299c6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c2f04299c6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g2c2f04299c6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c246e5e9c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c246e5e9c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g2c246e5e9cb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c246e5e9c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c246e5e9c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2c246e5e9cb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c246e5e9cb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c246e5e9cb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2c246e5e9cb_0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c29c7c2800_1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c29c7c2800_1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g2c29c7c2800_1_1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c246e5e9cb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c246e5e9cb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g2c246e5e9cb_0_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c03776067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c03776067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g2c03776067f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ral 1 coluna">
  <p:cSld name="Geral 1 coluna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1752000" y="2968975"/>
            <a:ext cx="20880000" cy="921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6477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•"/>
              <a:defRPr sz="6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172080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oppins"/>
              <a:buNone/>
              <a:defRPr sz="8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ia imagem">
  <p:cSld name="Meia imagem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>
            <a:spLocks noGrp="1"/>
          </p:cNvSpPr>
          <p:nvPr>
            <p:ph type="pic" idx="2"/>
          </p:nvPr>
        </p:nvSpPr>
        <p:spPr>
          <a:xfrm>
            <a:off x="1" y="0"/>
            <a:ext cx="12192000" cy="1371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ndo_azul_simples">
  <p:cSld name="fundo_azul_simple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5"/>
          <p:cNvGrpSpPr/>
          <p:nvPr/>
        </p:nvGrpSpPr>
        <p:grpSpPr>
          <a:xfrm>
            <a:off x="-14850" y="-1"/>
            <a:ext cx="24398850" cy="13716001"/>
            <a:chOff x="0" y="0"/>
            <a:chExt cx="12192000" cy="6858001"/>
          </a:xfrm>
        </p:grpSpPr>
        <p:pic>
          <p:nvPicPr>
            <p:cNvPr id="24" name="Google Shape;24;p5"/>
            <p:cNvPicPr preferRelativeResize="0"/>
            <p:nvPr/>
          </p:nvPicPr>
          <p:blipFill rotWithShape="1">
            <a:blip r:embed="rId2">
              <a:alphaModFix/>
            </a:blip>
            <a:srcRect t="19960"/>
            <a:stretch/>
          </p:blipFill>
          <p:spPr>
            <a:xfrm>
              <a:off x="0" y="1368859"/>
              <a:ext cx="12192000" cy="54891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5;p5"/>
            <p:cNvSpPr/>
            <p:nvPr/>
          </p:nvSpPr>
          <p:spPr>
            <a:xfrm>
              <a:off x="0" y="0"/>
              <a:ext cx="12192000" cy="1459149"/>
            </a:xfrm>
            <a:prstGeom prst="rect">
              <a:avLst/>
            </a:prstGeom>
            <a:solidFill>
              <a:srgbClr val="013A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6" name="Google Shape;26;p5"/>
          <p:cNvSpPr txBox="1"/>
          <p:nvPr/>
        </p:nvSpPr>
        <p:spPr>
          <a:xfrm rot="-5400000">
            <a:off x="22844404" y="5938234"/>
            <a:ext cx="1461346" cy="861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5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fld id="{00000000-1234-1234-1234-123412341234}" type="slidenum">
              <a:rPr lang="pt-PT" sz="5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5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7" name="Google Shape;27;p5"/>
          <p:cNvCxnSpPr/>
          <p:nvPr/>
        </p:nvCxnSpPr>
        <p:spPr>
          <a:xfrm>
            <a:off x="23575074" y="4372189"/>
            <a:ext cx="0" cy="1295400"/>
          </a:xfrm>
          <a:prstGeom prst="straightConnector1">
            <a:avLst/>
          </a:prstGeom>
          <a:noFill/>
          <a:ln w="76200" cap="flat" cmpd="sng">
            <a:solidFill>
              <a:schemeClr val="lt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28" name="Google Shape;28;p5"/>
          <p:cNvCxnSpPr/>
          <p:nvPr/>
        </p:nvCxnSpPr>
        <p:spPr>
          <a:xfrm>
            <a:off x="23575074" y="7128936"/>
            <a:ext cx="0" cy="2472265"/>
          </a:xfrm>
          <a:prstGeom prst="straightConnector1">
            <a:avLst/>
          </a:prstGeom>
          <a:noFill/>
          <a:ln w="762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752000" y="2968975"/>
            <a:ext cx="20880000" cy="921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6477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Char char="•"/>
              <a:defRPr sz="6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172080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Poppins"/>
              <a:buNone/>
              <a:defRPr sz="8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ral 2 colunas">
  <p:cSld name="Geral 2 coluna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1752000" y="2968975"/>
            <a:ext cx="9720000" cy="921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6477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•"/>
              <a:defRPr sz="6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172080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oppins"/>
              <a:buNone/>
              <a:defRPr sz="8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12912000" y="2968974"/>
            <a:ext cx="9720000" cy="921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6477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•"/>
              <a:defRPr sz="6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t + Image 02">
  <p:cSld name="Txt + Image 02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>
            <a:spLocks noGrp="1"/>
          </p:cNvSpPr>
          <p:nvPr>
            <p:ph type="pic" idx="2"/>
          </p:nvPr>
        </p:nvSpPr>
        <p:spPr>
          <a:xfrm>
            <a:off x="1" y="0"/>
            <a:ext cx="10057844" cy="13716000"/>
          </a:xfrm>
          <a:prstGeom prst="rect">
            <a:avLst/>
          </a:prstGeom>
          <a:solidFill>
            <a:srgbClr val="CFCFCF"/>
          </a:solidFill>
          <a:ln>
            <a:noFill/>
          </a:ln>
        </p:spPr>
      </p:sp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11040000" y="810000"/>
            <a:ext cx="115920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oppins"/>
              <a:buNone/>
              <a:defRPr sz="8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11040000" y="2968975"/>
            <a:ext cx="11592000" cy="921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6477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•"/>
              <a:defRPr sz="6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t + Image 03">
  <p:cSld name="Txt + Image 03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>
            <a:spLocks noGrp="1"/>
          </p:cNvSpPr>
          <p:nvPr>
            <p:ph type="pic" idx="2"/>
          </p:nvPr>
        </p:nvSpPr>
        <p:spPr>
          <a:xfrm>
            <a:off x="1176000" y="3330000"/>
            <a:ext cx="9761549" cy="8568000"/>
          </a:xfrm>
          <a:prstGeom prst="rect">
            <a:avLst/>
          </a:prstGeom>
          <a:solidFill>
            <a:srgbClr val="CFCFCF"/>
          </a:solidFill>
          <a:ln>
            <a:noFill/>
          </a:ln>
        </p:spPr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172080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oppins"/>
              <a:buNone/>
              <a:defRPr sz="8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1"/>
          </p:nvPr>
        </p:nvSpPr>
        <p:spPr>
          <a:xfrm>
            <a:off x="11616000" y="2968975"/>
            <a:ext cx="11016000" cy="921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6477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•"/>
              <a:defRPr sz="6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+ KPI">
  <p:cSld name="Imagem + KPI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>
            <a:spLocks noGrp="1"/>
          </p:cNvSpPr>
          <p:nvPr>
            <p:ph type="pic" idx="2"/>
          </p:nvPr>
        </p:nvSpPr>
        <p:spPr>
          <a:xfrm>
            <a:off x="2400000" y="4429607"/>
            <a:ext cx="6480000" cy="6480000"/>
          </a:xfrm>
          <a:prstGeom prst="ellipse">
            <a:avLst/>
          </a:prstGeom>
          <a:solidFill>
            <a:srgbClr val="CFCFCF"/>
          </a:solidFill>
          <a:ln>
            <a:noFill/>
          </a:ln>
        </p:spPr>
      </p:sp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172080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oppins"/>
              <a:buNone/>
              <a:defRPr sz="8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Mobile">
  <p:cSld name="Timeline Mobi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172080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oppins"/>
              <a:buNone/>
              <a:defRPr sz="8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7" name="Google Shape;57;p12"/>
          <p:cNvSpPr>
            <a:spLocks noGrp="1"/>
          </p:cNvSpPr>
          <p:nvPr>
            <p:ph type="pic" idx="2"/>
          </p:nvPr>
        </p:nvSpPr>
        <p:spPr>
          <a:xfrm>
            <a:off x="2959776" y="4204960"/>
            <a:ext cx="4588867" cy="728125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tegoria + imagens 01">
  <p:cSld name="Categoria + imagens 0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>
            <a:spLocks noGrp="1"/>
          </p:cNvSpPr>
          <p:nvPr>
            <p:ph type="pic" idx="2"/>
          </p:nvPr>
        </p:nvSpPr>
        <p:spPr>
          <a:xfrm>
            <a:off x="8187077" y="4114800"/>
            <a:ext cx="4725631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3"/>
          <p:cNvSpPr>
            <a:spLocks noGrp="1"/>
          </p:cNvSpPr>
          <p:nvPr>
            <p:ph type="pic" idx="3"/>
          </p:nvPr>
        </p:nvSpPr>
        <p:spPr>
          <a:xfrm>
            <a:off x="12912708" y="4114800"/>
            <a:ext cx="4725631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3"/>
          <p:cNvSpPr>
            <a:spLocks noGrp="1"/>
          </p:cNvSpPr>
          <p:nvPr>
            <p:ph type="pic" idx="4"/>
          </p:nvPr>
        </p:nvSpPr>
        <p:spPr>
          <a:xfrm>
            <a:off x="17620410" y="4114800"/>
            <a:ext cx="4725631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172080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oppins"/>
              <a:buNone/>
              <a:defRPr sz="8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tegoria + imagens 02">
  <p:cSld name="Categoria + imagens 0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>
            <a:spLocks noGrp="1"/>
          </p:cNvSpPr>
          <p:nvPr>
            <p:ph type="pic" idx="2"/>
          </p:nvPr>
        </p:nvSpPr>
        <p:spPr>
          <a:xfrm>
            <a:off x="1462499" y="4515305"/>
            <a:ext cx="3960000" cy="396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5" name="Google Shape;65;p14"/>
          <p:cNvSpPr>
            <a:spLocks noGrp="1"/>
          </p:cNvSpPr>
          <p:nvPr>
            <p:ph type="pic" idx="3"/>
          </p:nvPr>
        </p:nvSpPr>
        <p:spPr>
          <a:xfrm>
            <a:off x="6956987" y="4515305"/>
            <a:ext cx="3960000" cy="396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6" name="Google Shape;66;p14"/>
          <p:cNvSpPr>
            <a:spLocks noGrp="1"/>
          </p:cNvSpPr>
          <p:nvPr>
            <p:ph type="pic" idx="4"/>
          </p:nvPr>
        </p:nvSpPr>
        <p:spPr>
          <a:xfrm>
            <a:off x="12431499" y="4515305"/>
            <a:ext cx="3960000" cy="396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7" name="Google Shape;67;p14"/>
          <p:cNvSpPr>
            <a:spLocks noGrp="1"/>
          </p:cNvSpPr>
          <p:nvPr>
            <p:ph type="pic" idx="5"/>
          </p:nvPr>
        </p:nvSpPr>
        <p:spPr>
          <a:xfrm>
            <a:off x="17940021" y="4515305"/>
            <a:ext cx="3960000" cy="396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172080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oppins"/>
              <a:buNone/>
              <a:defRPr sz="8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tegoria + imagens 03">
  <p:cSld name="Categoria + imagens 03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>
            <a:spLocks noGrp="1"/>
          </p:cNvSpPr>
          <p:nvPr>
            <p:ph type="pic" idx="2"/>
          </p:nvPr>
        </p:nvSpPr>
        <p:spPr>
          <a:xfrm>
            <a:off x="1136947" y="3829050"/>
            <a:ext cx="6732752" cy="67310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5"/>
          <p:cNvSpPr>
            <a:spLocks noGrp="1"/>
          </p:cNvSpPr>
          <p:nvPr>
            <p:ph type="pic" idx="3"/>
          </p:nvPr>
        </p:nvSpPr>
        <p:spPr>
          <a:xfrm>
            <a:off x="8327018" y="3829050"/>
            <a:ext cx="6732752" cy="67310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5"/>
          <p:cNvSpPr>
            <a:spLocks noGrp="1"/>
          </p:cNvSpPr>
          <p:nvPr>
            <p:ph type="pic" idx="4"/>
          </p:nvPr>
        </p:nvSpPr>
        <p:spPr>
          <a:xfrm>
            <a:off x="15513914" y="3829050"/>
            <a:ext cx="6732752" cy="67310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172080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oppins"/>
              <a:buNone/>
              <a:defRPr sz="8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tegoria + imagens 04">
  <p:cSld name="Categoria + imagens 04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>
            <a:spLocks noGrp="1"/>
          </p:cNvSpPr>
          <p:nvPr>
            <p:ph type="pic" idx="2"/>
          </p:nvPr>
        </p:nvSpPr>
        <p:spPr>
          <a:xfrm>
            <a:off x="11740724" y="1762124"/>
            <a:ext cx="5097202" cy="5095876"/>
          </a:xfrm>
          <a:prstGeom prst="rect">
            <a:avLst/>
          </a:prstGeom>
          <a:solidFill>
            <a:srgbClr val="CFCFCF"/>
          </a:solidFill>
          <a:ln>
            <a:noFill/>
          </a:ln>
        </p:spPr>
      </p:sp>
      <p:sp>
        <p:nvSpPr>
          <p:cNvPr id="76" name="Google Shape;76;p16"/>
          <p:cNvSpPr>
            <a:spLocks noGrp="1"/>
          </p:cNvSpPr>
          <p:nvPr>
            <p:ph type="pic" idx="3"/>
          </p:nvPr>
        </p:nvSpPr>
        <p:spPr>
          <a:xfrm>
            <a:off x="16837925" y="6858000"/>
            <a:ext cx="5097202" cy="5095876"/>
          </a:xfrm>
          <a:prstGeom prst="rect">
            <a:avLst/>
          </a:prstGeom>
          <a:solidFill>
            <a:srgbClr val="CFCFCF"/>
          </a:solidFill>
          <a:ln>
            <a:noFill/>
          </a:ln>
        </p:spPr>
      </p:sp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1759200" y="3114000"/>
            <a:ext cx="90648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oppins"/>
              <a:buNone/>
              <a:defRPr sz="8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1752000" y="7090124"/>
            <a:ext cx="9072000" cy="5095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tems 01">
  <p:cSld name="Items 0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>
            <a:spLocks noGrp="1"/>
          </p:cNvSpPr>
          <p:nvPr>
            <p:ph type="pic" idx="2"/>
          </p:nvPr>
        </p:nvSpPr>
        <p:spPr>
          <a:xfrm>
            <a:off x="12794400" y="1573200"/>
            <a:ext cx="8312400" cy="4687200"/>
          </a:xfrm>
          <a:prstGeom prst="rect">
            <a:avLst/>
          </a:prstGeom>
          <a:solidFill>
            <a:srgbClr val="CFCFCF"/>
          </a:solidFill>
          <a:ln>
            <a:noFill/>
          </a:ln>
        </p:spPr>
      </p:sp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1968000" y="3978000"/>
            <a:ext cx="102240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Poppins"/>
              <a:buNone/>
              <a:defRPr sz="8800" b="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tems 02">
  <p:cSld name="Items 0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>
            <a:spLocks noGrp="1"/>
          </p:cNvSpPr>
          <p:nvPr>
            <p:ph type="pic" idx="2"/>
          </p:nvPr>
        </p:nvSpPr>
        <p:spPr>
          <a:xfrm>
            <a:off x="1897199" y="5706000"/>
            <a:ext cx="8712000" cy="4914000"/>
          </a:xfrm>
          <a:prstGeom prst="rect">
            <a:avLst/>
          </a:prstGeom>
          <a:solidFill>
            <a:srgbClr val="CFCFCF"/>
          </a:solidFill>
          <a:ln>
            <a:noFill/>
          </a:ln>
        </p:spPr>
      </p:sp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1502567" y="2944844"/>
            <a:ext cx="10329433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Poppins"/>
              <a:buNone/>
              <a:defRPr sz="8800" b="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ks">
  <p:cSld name="Link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/>
          <p:nvPr/>
        </p:nvSpPr>
        <p:spPr>
          <a:xfrm>
            <a:off x="15720000" y="12474000"/>
            <a:ext cx="8064000" cy="864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9"/>
          <p:cNvSpPr>
            <a:spLocks noGrp="1"/>
          </p:cNvSpPr>
          <p:nvPr>
            <p:ph type="pic" idx="2"/>
          </p:nvPr>
        </p:nvSpPr>
        <p:spPr>
          <a:xfrm>
            <a:off x="14784000" y="0"/>
            <a:ext cx="7926864" cy="137160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84960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oppins"/>
              <a:buNone/>
              <a:defRPr sz="8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>
            <a:off x="1392000" y="2968975"/>
            <a:ext cx="12528000" cy="921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6477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•"/>
              <a:defRPr sz="6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571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508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tegorias">
  <p:cSld name="Categoria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>
            <a:spLocks noGrp="1"/>
          </p:cNvSpPr>
          <p:nvPr>
            <p:ph type="pic" idx="2"/>
          </p:nvPr>
        </p:nvSpPr>
        <p:spPr>
          <a:xfrm>
            <a:off x="1" y="0"/>
            <a:ext cx="12192000" cy="6850626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0"/>
          <p:cNvSpPr>
            <a:spLocks noGrp="1"/>
          </p:cNvSpPr>
          <p:nvPr>
            <p:ph type="pic" idx="3"/>
          </p:nvPr>
        </p:nvSpPr>
        <p:spPr>
          <a:xfrm>
            <a:off x="12191999" y="6813755"/>
            <a:ext cx="12192000" cy="685062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ção">
  <p:cSld name="Citação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/>
          <p:nvPr/>
        </p:nvSpPr>
        <p:spPr>
          <a:xfrm>
            <a:off x="6072000" y="2394000"/>
            <a:ext cx="14947852" cy="8487904"/>
          </a:xfrm>
          <a:prstGeom prst="wedgeRoundRectCallout">
            <a:avLst>
              <a:gd name="adj1" fmla="val -40495"/>
              <a:gd name="adj2" fmla="val 72735"/>
              <a:gd name="adj3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198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ndo_azul_img">
  <p:cSld name="fundo_azul_img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/>
        </p:nvSpPr>
        <p:spPr>
          <a:xfrm rot="-5400000">
            <a:off x="22844404" y="5938234"/>
            <a:ext cx="1461346" cy="861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5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fld id="{00000000-1234-1234-1234-123412341234}" type="slidenum">
              <a:rPr lang="pt-PT" sz="5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5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97" name="Google Shape;97;p22"/>
          <p:cNvCxnSpPr/>
          <p:nvPr/>
        </p:nvCxnSpPr>
        <p:spPr>
          <a:xfrm>
            <a:off x="23575074" y="4372189"/>
            <a:ext cx="0" cy="1295400"/>
          </a:xfrm>
          <a:prstGeom prst="straightConnector1">
            <a:avLst/>
          </a:prstGeom>
          <a:noFill/>
          <a:ln w="76200" cap="flat" cmpd="sng">
            <a:solidFill>
              <a:schemeClr val="lt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98" name="Google Shape;98;p22"/>
          <p:cNvCxnSpPr/>
          <p:nvPr/>
        </p:nvCxnSpPr>
        <p:spPr>
          <a:xfrm>
            <a:off x="23575074" y="7128936"/>
            <a:ext cx="0" cy="2472265"/>
          </a:xfrm>
          <a:prstGeom prst="straightConnector1">
            <a:avLst/>
          </a:prstGeom>
          <a:noFill/>
          <a:ln w="76200" cap="flat" cmpd="sng">
            <a:solidFill>
              <a:schemeClr val="l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99" name="Google Shape;99;p22"/>
          <p:cNvGrpSpPr/>
          <p:nvPr/>
        </p:nvGrpSpPr>
        <p:grpSpPr>
          <a:xfrm>
            <a:off x="-14850" y="-1"/>
            <a:ext cx="24398850" cy="13716001"/>
            <a:chOff x="0" y="0"/>
            <a:chExt cx="12192000" cy="6858001"/>
          </a:xfrm>
        </p:grpSpPr>
        <p:pic>
          <p:nvPicPr>
            <p:cNvPr id="100" name="Google Shape;100;p22"/>
            <p:cNvPicPr preferRelativeResize="0"/>
            <p:nvPr/>
          </p:nvPicPr>
          <p:blipFill rotWithShape="1">
            <a:blip r:embed="rId2">
              <a:alphaModFix/>
            </a:blip>
            <a:srcRect t="19960"/>
            <a:stretch/>
          </p:blipFill>
          <p:spPr>
            <a:xfrm>
              <a:off x="0" y="1368859"/>
              <a:ext cx="12192000" cy="54891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22"/>
            <p:cNvSpPr/>
            <p:nvPr/>
          </p:nvSpPr>
          <p:spPr>
            <a:xfrm>
              <a:off x="0" y="0"/>
              <a:ext cx="12192000" cy="1459149"/>
            </a:xfrm>
            <a:prstGeom prst="rect">
              <a:avLst/>
            </a:prstGeom>
            <a:solidFill>
              <a:srgbClr val="013A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02" name="Google Shape;102;p22"/>
          <p:cNvSpPr>
            <a:spLocks noGrp="1"/>
          </p:cNvSpPr>
          <p:nvPr>
            <p:ph type="pic" idx="2"/>
          </p:nvPr>
        </p:nvSpPr>
        <p:spPr>
          <a:xfrm>
            <a:off x="2616000" y="4442653"/>
            <a:ext cx="5760000" cy="576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3" name="Google Shape;103;p22"/>
          <p:cNvSpPr txBox="1"/>
          <p:nvPr/>
        </p:nvSpPr>
        <p:spPr>
          <a:xfrm>
            <a:off x="1095000" y="585915"/>
            <a:ext cx="5544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Pós-graduação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Agile Project Management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V_Docente">
  <p:cSld name="CV_Docent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>
            <a:spLocks noGrp="1"/>
          </p:cNvSpPr>
          <p:nvPr>
            <p:ph type="pic" idx="2"/>
          </p:nvPr>
        </p:nvSpPr>
        <p:spPr>
          <a:xfrm>
            <a:off x="9456000" y="3906000"/>
            <a:ext cx="5400000" cy="5400000"/>
          </a:xfrm>
          <a:prstGeom prst="ellipse">
            <a:avLst/>
          </a:prstGeom>
          <a:solidFill>
            <a:srgbClr val="C3C3C3"/>
          </a:solidFill>
          <a:ln>
            <a:noFill/>
          </a:ln>
        </p:spPr>
      </p:sp>
      <p:sp>
        <p:nvSpPr>
          <p:cNvPr id="106" name="Google Shape;106;p23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172080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oppins"/>
              <a:buNone/>
              <a:defRPr sz="8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as-vindas">
  <p:cSld name="Boas-vinda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>
            <a:spLocks noGrp="1"/>
          </p:cNvSpPr>
          <p:nvPr>
            <p:ph type="pic" idx="2"/>
          </p:nvPr>
        </p:nvSpPr>
        <p:spPr>
          <a:xfrm>
            <a:off x="-1697604" y="5241873"/>
            <a:ext cx="11339080" cy="11336127"/>
          </a:xfrm>
          <a:prstGeom prst="roundRect">
            <a:avLst>
              <a:gd name="adj" fmla="val 23263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_completa">
  <p:cSld name="imagem_completa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>
            <a:spLocks noGrp="1"/>
          </p:cNvSpPr>
          <p:nvPr>
            <p:ph type="pic" idx="2"/>
          </p:nvPr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C3C3C3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 rot="-5400000">
            <a:off x="22844404" y="5938234"/>
            <a:ext cx="1461346" cy="861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50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fld id="{00000000-1234-1234-1234-123412341234}" type="slidenum">
              <a:rPr lang="pt-PT" sz="50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50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1" name="Google Shape;11;p1"/>
          <p:cNvCxnSpPr/>
          <p:nvPr/>
        </p:nvCxnSpPr>
        <p:spPr>
          <a:xfrm>
            <a:off x="23575074" y="4372189"/>
            <a:ext cx="0" cy="12954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2" name="Google Shape;12;p1"/>
          <p:cNvCxnSpPr/>
          <p:nvPr/>
        </p:nvCxnSpPr>
        <p:spPr>
          <a:xfrm>
            <a:off x="23575074" y="7128936"/>
            <a:ext cx="0" cy="2472265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3" name="Google Shape;13;p1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19244869" y="12366000"/>
            <a:ext cx="4539131" cy="10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1095000" y="585915"/>
            <a:ext cx="5544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rgbClr val="003A89"/>
                </a:solidFill>
                <a:latin typeface="Poppins"/>
                <a:ea typeface="Poppins"/>
                <a:cs typeface="Poppins"/>
                <a:sym typeface="Poppins"/>
              </a:rPr>
              <a:t>GenAI Weekend</a:t>
            </a:r>
            <a:endParaRPr/>
          </a:p>
        </p:txBody>
      </p:sp>
      <p:sp>
        <p:nvSpPr>
          <p:cNvPr id="15" name="Google Shape;15;p1"/>
          <p:cNvSpPr txBox="1"/>
          <p:nvPr/>
        </p:nvSpPr>
        <p:spPr>
          <a:xfrm>
            <a:off x="122253" y="12786656"/>
            <a:ext cx="1461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fld id="{00000000-1234-1234-1234-123412341234}" type="slidenum">
              <a:rPr lang="pt-PT" sz="2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25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1" r:id="rId20"/>
    <p:sldLayoutId id="2147483672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aussian37.github.io/deep-learning-chollet-8-4/" TargetMode="Externa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3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15959400" cy="1512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Image Generation - early days</a:t>
            </a:r>
            <a:endParaRPr/>
          </a:p>
        </p:txBody>
      </p:sp>
      <p:pic>
        <p:nvPicPr>
          <p:cNvPr id="383" name="Google Shape;38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788" y="4861875"/>
            <a:ext cx="10279723" cy="546772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3"/>
          <p:cNvSpPr txBox="1"/>
          <p:nvPr/>
        </p:nvSpPr>
        <p:spPr>
          <a:xfrm>
            <a:off x="579975" y="3270300"/>
            <a:ext cx="114996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VAEs - Variational Auto-Encoders (2013)</a:t>
            </a:r>
            <a:endParaRPr/>
          </a:p>
        </p:txBody>
      </p:sp>
      <p:pic>
        <p:nvPicPr>
          <p:cNvPr id="385" name="Google Shape;38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94350" y="3437712"/>
            <a:ext cx="10468690" cy="83160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6" name="Google Shape;386;p53"/>
          <p:cNvCxnSpPr>
            <a:endCxn id="385" idx="1"/>
          </p:cNvCxnSpPr>
          <p:nvPr/>
        </p:nvCxnSpPr>
        <p:spPr>
          <a:xfrm rot="10800000" flipH="1">
            <a:off x="5742750" y="7595738"/>
            <a:ext cx="6651600" cy="27114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4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15959400" cy="1512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Image Generation - early days</a:t>
            </a:r>
            <a:endParaRPr/>
          </a:p>
        </p:txBody>
      </p:sp>
      <p:pic>
        <p:nvPicPr>
          <p:cNvPr id="393" name="Google Shape;39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788" y="4861875"/>
            <a:ext cx="10279723" cy="546772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4"/>
          <p:cNvSpPr txBox="1"/>
          <p:nvPr/>
        </p:nvSpPr>
        <p:spPr>
          <a:xfrm>
            <a:off x="579975" y="3270300"/>
            <a:ext cx="114996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VAEs - Variational Auto-Encoders (2013)</a:t>
            </a:r>
            <a:endParaRPr/>
          </a:p>
        </p:txBody>
      </p:sp>
      <p:pic>
        <p:nvPicPr>
          <p:cNvPr id="395" name="Google Shape;39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94350" y="3437712"/>
            <a:ext cx="10468690" cy="83160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6" name="Google Shape;396;p54"/>
          <p:cNvCxnSpPr>
            <a:endCxn id="395" idx="1"/>
          </p:cNvCxnSpPr>
          <p:nvPr/>
        </p:nvCxnSpPr>
        <p:spPr>
          <a:xfrm rot="10800000" flipH="1">
            <a:off x="5742750" y="7595738"/>
            <a:ext cx="6651600" cy="27114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7" name="Google Shape;397;p54"/>
          <p:cNvSpPr/>
          <p:nvPr/>
        </p:nvSpPr>
        <p:spPr>
          <a:xfrm rot="-2507431">
            <a:off x="15432665" y="7505187"/>
            <a:ext cx="45468" cy="340124"/>
          </a:xfrm>
          <a:prstGeom prst="rect">
            <a:avLst/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54"/>
          <p:cNvSpPr/>
          <p:nvPr/>
        </p:nvSpPr>
        <p:spPr>
          <a:xfrm rot="3359776">
            <a:off x="15432593" y="7505267"/>
            <a:ext cx="45597" cy="339986"/>
          </a:xfrm>
          <a:prstGeom prst="rect">
            <a:avLst/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5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15959400" cy="1512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Image Generation - early days</a:t>
            </a:r>
            <a:endParaRPr/>
          </a:p>
        </p:txBody>
      </p:sp>
      <p:pic>
        <p:nvPicPr>
          <p:cNvPr id="405" name="Google Shape;40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9200" y="4410425"/>
            <a:ext cx="14946325" cy="8055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5"/>
          <p:cNvSpPr txBox="1"/>
          <p:nvPr/>
        </p:nvSpPr>
        <p:spPr>
          <a:xfrm>
            <a:off x="6228450" y="12464550"/>
            <a:ext cx="83646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212529"/>
                </a:solidFill>
              </a:rPr>
              <a:t>A dataset of faces generated by Tom White using VAEs</a:t>
            </a:r>
            <a:endParaRPr sz="2400">
              <a:solidFill>
                <a:srgbClr val="21252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55"/>
          <p:cNvSpPr txBox="1"/>
          <p:nvPr/>
        </p:nvSpPr>
        <p:spPr>
          <a:xfrm>
            <a:off x="579975" y="3270300"/>
            <a:ext cx="114996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VAEs - Variational Auto-Encoders (2013)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6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15959400" cy="1512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Image Generation - early days</a:t>
            </a:r>
            <a:endParaRPr/>
          </a:p>
        </p:txBody>
      </p:sp>
      <p:pic>
        <p:nvPicPr>
          <p:cNvPr id="414" name="Google Shape;41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788" y="4861875"/>
            <a:ext cx="10279723" cy="546772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6"/>
          <p:cNvSpPr txBox="1"/>
          <p:nvPr/>
        </p:nvSpPr>
        <p:spPr>
          <a:xfrm>
            <a:off x="579975" y="3270300"/>
            <a:ext cx="114996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VAEs - Variational Auto-Encoders (2013)</a:t>
            </a:r>
            <a:endParaRPr/>
          </a:p>
        </p:txBody>
      </p:sp>
      <p:pic>
        <p:nvPicPr>
          <p:cNvPr id="416" name="Google Shape;41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92000" y="5151463"/>
            <a:ext cx="10279700" cy="419579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6"/>
          <p:cNvSpPr/>
          <p:nvPr/>
        </p:nvSpPr>
        <p:spPr>
          <a:xfrm>
            <a:off x="5000625" y="7533425"/>
            <a:ext cx="1233900" cy="1125600"/>
          </a:xfrm>
          <a:prstGeom prst="ellipse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8" name="Google Shape;418;p56"/>
          <p:cNvCxnSpPr>
            <a:stCxn id="417" idx="7"/>
            <a:endCxn id="419" idx="1"/>
          </p:cNvCxnSpPr>
          <p:nvPr/>
        </p:nvCxnSpPr>
        <p:spPr>
          <a:xfrm rot="10800000" flipH="1">
            <a:off x="6053825" y="4371865"/>
            <a:ext cx="6610200" cy="3326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9" name="Google Shape;419;p56"/>
          <p:cNvSpPr txBox="1"/>
          <p:nvPr/>
        </p:nvSpPr>
        <p:spPr>
          <a:xfrm>
            <a:off x="12663900" y="4002275"/>
            <a:ext cx="3701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/>
              <a:t>The smile vector</a:t>
            </a:r>
            <a:endParaRPr sz="3600"/>
          </a:p>
        </p:txBody>
      </p:sp>
      <p:sp>
        <p:nvSpPr>
          <p:cNvPr id="420" name="Google Shape;420;p56"/>
          <p:cNvSpPr txBox="1"/>
          <p:nvPr/>
        </p:nvSpPr>
        <p:spPr>
          <a:xfrm>
            <a:off x="13031925" y="9378550"/>
            <a:ext cx="10282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/>
              <a:t>example taken from: </a:t>
            </a:r>
            <a:r>
              <a:rPr lang="pt-PT" sz="1200" u="sng">
                <a:solidFill>
                  <a:schemeClr val="hlink"/>
                </a:solidFill>
                <a:hlinkClick r:id="rId5"/>
              </a:rPr>
              <a:t>https://gaussian37.github.io/deep-learning-chollet-8-4/</a:t>
            </a:r>
            <a:endParaRPr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7"/>
          <p:cNvSpPr txBox="1"/>
          <p:nvPr/>
        </p:nvSpPr>
        <p:spPr>
          <a:xfrm>
            <a:off x="2994625" y="1177775"/>
            <a:ext cx="13097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New Image applications emerge (2014+)</a:t>
            </a:r>
            <a:endParaRPr sz="1800"/>
          </a:p>
        </p:txBody>
      </p:sp>
      <p:sp>
        <p:nvSpPr>
          <p:cNvPr id="427" name="Google Shape;427;p57"/>
          <p:cNvSpPr txBox="1"/>
          <p:nvPr/>
        </p:nvSpPr>
        <p:spPr>
          <a:xfrm>
            <a:off x="413550" y="2732000"/>
            <a:ext cx="84558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Image editing and manipulation</a:t>
            </a:r>
            <a:endParaRPr sz="3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428" name="Google Shape;42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6475" y="3900300"/>
            <a:ext cx="11076398" cy="905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8"/>
          <p:cNvSpPr txBox="1"/>
          <p:nvPr/>
        </p:nvSpPr>
        <p:spPr>
          <a:xfrm>
            <a:off x="590975" y="2638075"/>
            <a:ext cx="583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Image Reconstruction</a:t>
            </a:r>
            <a:endParaRPr sz="900"/>
          </a:p>
        </p:txBody>
      </p:sp>
      <p:sp>
        <p:nvSpPr>
          <p:cNvPr id="435" name="Google Shape;435;p58"/>
          <p:cNvSpPr txBox="1"/>
          <p:nvPr/>
        </p:nvSpPr>
        <p:spPr>
          <a:xfrm>
            <a:off x="2994625" y="1177775"/>
            <a:ext cx="13097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New Image applications emerge (2014+)</a:t>
            </a:r>
            <a:endParaRPr sz="1800"/>
          </a:p>
        </p:txBody>
      </p:sp>
      <p:pic>
        <p:nvPicPr>
          <p:cNvPr id="436" name="Google Shape;43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175" y="3824025"/>
            <a:ext cx="8268550" cy="885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9"/>
          <p:cNvSpPr txBox="1"/>
          <p:nvPr/>
        </p:nvSpPr>
        <p:spPr>
          <a:xfrm>
            <a:off x="887425" y="3202113"/>
            <a:ext cx="583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Image Reconstruction</a:t>
            </a:r>
            <a:endParaRPr sz="900"/>
          </a:p>
        </p:txBody>
      </p:sp>
      <p:sp>
        <p:nvSpPr>
          <p:cNvPr id="443" name="Google Shape;443;p59"/>
          <p:cNvSpPr txBox="1"/>
          <p:nvPr/>
        </p:nvSpPr>
        <p:spPr>
          <a:xfrm>
            <a:off x="2994625" y="1177775"/>
            <a:ext cx="13097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New Image applications emerge (2014+)</a:t>
            </a:r>
            <a:endParaRPr sz="1800"/>
          </a:p>
        </p:txBody>
      </p:sp>
      <p:pic>
        <p:nvPicPr>
          <p:cNvPr id="444" name="Google Shape;444;p59"/>
          <p:cNvPicPr preferRelativeResize="0"/>
          <p:nvPr/>
        </p:nvPicPr>
        <p:blipFill>
          <a:blip r:embed="rId3">
            <a:alphaModFix/>
          </a:blip>
          <a:srcRect r="32884"/>
          <a:stretch/>
        </p:blipFill>
        <p:spPr>
          <a:xfrm>
            <a:off x="3073800" y="5088150"/>
            <a:ext cx="10790482" cy="577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0"/>
          <p:cNvSpPr txBox="1">
            <a:spLocks noGrp="1"/>
          </p:cNvSpPr>
          <p:nvPr>
            <p:ph type="title"/>
          </p:nvPr>
        </p:nvSpPr>
        <p:spPr>
          <a:xfrm>
            <a:off x="5424000" y="810000"/>
            <a:ext cx="15959400" cy="1512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Image Generation - early days</a:t>
            </a:r>
            <a:endParaRPr/>
          </a:p>
        </p:txBody>
      </p:sp>
      <p:sp>
        <p:nvSpPr>
          <p:cNvPr id="451" name="Google Shape;451;p60"/>
          <p:cNvSpPr txBox="1"/>
          <p:nvPr/>
        </p:nvSpPr>
        <p:spPr>
          <a:xfrm>
            <a:off x="512425" y="2978000"/>
            <a:ext cx="13878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GANs - Generative Adversarial Networks (2014)</a:t>
            </a:r>
            <a:endParaRPr/>
          </a:p>
        </p:txBody>
      </p:sp>
      <p:pic>
        <p:nvPicPr>
          <p:cNvPr id="452" name="Google Shape;45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225" y="4495900"/>
            <a:ext cx="17002525" cy="7039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60"/>
          <p:cNvSpPr txBox="1"/>
          <p:nvPr/>
        </p:nvSpPr>
        <p:spPr>
          <a:xfrm>
            <a:off x="6633025" y="11534950"/>
            <a:ext cx="12951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Basic architecture of a generic GAN. Source: https://www.youtube.com/watch?v=dCKbRCUyop8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fct_nova">
      <a:dk1>
        <a:srgbClr val="414141"/>
      </a:dk1>
      <a:lt1>
        <a:srgbClr val="E6E6E6"/>
      </a:lt1>
      <a:dk2>
        <a:srgbClr val="186095"/>
      </a:dk2>
      <a:lt2>
        <a:srgbClr val="008BCC"/>
      </a:lt2>
      <a:accent1>
        <a:srgbClr val="003A89"/>
      </a:accent1>
      <a:accent2>
        <a:srgbClr val="008BCC"/>
      </a:accent2>
      <a:accent3>
        <a:srgbClr val="151515"/>
      </a:accent3>
      <a:accent4>
        <a:srgbClr val="414141"/>
      </a:accent4>
      <a:accent5>
        <a:srgbClr val="B3B3B3"/>
      </a:accent5>
      <a:accent6>
        <a:srgbClr val="E6E6E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Macintosh PowerPoint</Application>
  <PresentationFormat>Custom</PresentationFormat>
  <Paragraphs>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Montserrat SemiBold</vt:lpstr>
      <vt:lpstr>Poppins</vt:lpstr>
      <vt:lpstr>Arial</vt:lpstr>
      <vt:lpstr>Calibri</vt:lpstr>
      <vt:lpstr>Default Theme</vt:lpstr>
      <vt:lpstr>Image Generation - early days</vt:lpstr>
      <vt:lpstr>Image Generation - early days</vt:lpstr>
      <vt:lpstr>Image Generation - early days</vt:lpstr>
      <vt:lpstr>Image Generation - early days</vt:lpstr>
      <vt:lpstr>PowerPoint Presentation</vt:lpstr>
      <vt:lpstr>PowerPoint Presentation</vt:lpstr>
      <vt:lpstr>PowerPoint Presentation</vt:lpstr>
      <vt:lpstr>Image Generation - early days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Simão Gonçalves ( HLUZ-LEARNING HEALTH )</cp:lastModifiedBy>
  <cp:revision>2</cp:revision>
  <dcterms:modified xsi:type="dcterms:W3CDTF">2026-01-14T16:26:56Z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606be7-212f-4f2d-82f8-c23e50095b91_Enabled">
    <vt:lpwstr>true</vt:lpwstr>
  </property>
  <property fmtid="{D5CDD505-2E9C-101B-9397-08002B2CF9AE}" pid="3" name="MSIP_Label_92606be7-212f-4f2d-82f8-c23e50095b91_SetDate">
    <vt:lpwstr>2026-01-14T16:26:53Z</vt:lpwstr>
  </property>
  <property fmtid="{D5CDD505-2E9C-101B-9397-08002B2CF9AE}" pid="4" name="MSIP_Label_92606be7-212f-4f2d-82f8-c23e50095b91_Method">
    <vt:lpwstr>Standard</vt:lpwstr>
  </property>
  <property fmtid="{D5CDD505-2E9C-101B-9397-08002B2CF9AE}" pid="5" name="MSIP_Label_92606be7-212f-4f2d-82f8-c23e50095b91_Name">
    <vt:lpwstr>defa4170-0d19-0005-0004-bc88714345d2</vt:lpwstr>
  </property>
  <property fmtid="{D5CDD505-2E9C-101B-9397-08002B2CF9AE}" pid="6" name="MSIP_Label_92606be7-212f-4f2d-82f8-c23e50095b91_SiteId">
    <vt:lpwstr>6535fd21-1906-4157-a123-537338230b9e</vt:lpwstr>
  </property>
  <property fmtid="{D5CDD505-2E9C-101B-9397-08002B2CF9AE}" pid="7" name="MSIP_Label_92606be7-212f-4f2d-82f8-c23e50095b91_ActionId">
    <vt:lpwstr>777943a5-3350-49d7-8a5b-379143cc501f</vt:lpwstr>
  </property>
  <property fmtid="{D5CDD505-2E9C-101B-9397-08002B2CF9AE}" pid="8" name="MSIP_Label_92606be7-212f-4f2d-82f8-c23e50095b91_ContentBits">
    <vt:lpwstr>0</vt:lpwstr>
  </property>
</Properties>
</file>